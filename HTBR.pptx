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85" r:id="rId4"/>
    <p:sldId id="293" r:id="rId5"/>
    <p:sldId id="303" r:id="rId6"/>
    <p:sldId id="310" r:id="rId7"/>
    <p:sldId id="309" r:id="rId8"/>
    <p:sldId id="304" r:id="rId9"/>
    <p:sldId id="305" r:id="rId10"/>
    <p:sldId id="306" r:id="rId11"/>
    <p:sldId id="307" r:id="rId12"/>
    <p:sldId id="258" r:id="rId13"/>
    <p:sldId id="289" r:id="rId14"/>
    <p:sldId id="287" r:id="rId15"/>
    <p:sldId id="291" r:id="rId16"/>
    <p:sldId id="290" r:id="rId17"/>
    <p:sldId id="292" r:id="rId18"/>
    <p:sldId id="311" r:id="rId19"/>
    <p:sldId id="312" r:id="rId20"/>
    <p:sldId id="267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520"/>
    <p:restoredTop sz="95033" autoAdjust="0"/>
  </p:normalViewPr>
  <p:slideViewPr>
    <p:cSldViewPr snapToGrid="0">
      <p:cViewPr varScale="1">
        <p:scale>
          <a:sx n="101" d="100"/>
          <a:sy n="101" d="100"/>
        </p:scale>
        <p:origin x="20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1T18:09:17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ACCESS.2025.3546099" TargetMode="External"/><Relationship Id="rId2" Type="http://schemas.openxmlformats.org/officeDocument/2006/relationships/hyperlink" Target="https://doi.org/10.1007/s44196-025-00875-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16/j.iref.2025.103996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412.18563" TargetMode="External"/><Relationship Id="rId2" Type="http://schemas.openxmlformats.org/officeDocument/2006/relationships/hyperlink" Target="https://doi.org/10.1016/j.softx.2025.102106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16/j.eswa.2023.122581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6.10059" TargetMode="External"/><Relationship Id="rId2" Type="http://schemas.openxmlformats.org/officeDocument/2006/relationships/hyperlink" Target="https://doi.org/10.1109/ACCESS.2021.3082186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1877694" y="3082184"/>
            <a:ext cx="8436607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Heirarchical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Transformer-Boost-RL Framework for Dynamic Multi-Asset Portfolio Optimization</a:t>
            </a:r>
            <a:endParaRPr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319886" y="4682370"/>
            <a:ext cx="3575500" cy="1573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Guided By: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US" sz="18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Panduraju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Pagidimalla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sz="17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802244" y="4647774"/>
            <a:ext cx="4312100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Presented By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:</a:t>
            </a:r>
            <a:endParaRPr sz="18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160122748025 G. Rami Reddy</a:t>
            </a:r>
          </a:p>
          <a:p>
            <a:pPr marL="0" lvl="0" indent="0" algn="ctr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160122748031  K. Karthik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3E9C86-1390-90ED-05FF-1DA07CD405D3}"/>
              </a:ext>
            </a:extLst>
          </p:cNvPr>
          <p:cNvSpPr txBox="1"/>
          <p:nvPr/>
        </p:nvSpPr>
        <p:spPr>
          <a:xfrm>
            <a:off x="2065087" y="1929198"/>
            <a:ext cx="80618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Artificial Intelligence and Machine Learning</a:t>
            </a:r>
          </a:p>
          <a:p>
            <a:pPr algn="ctr"/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22CAC11– Project Part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13347B-FB5B-1752-4C12-4A8F83FF0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32" y="0"/>
            <a:ext cx="11196735" cy="17989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972025" y="1484636"/>
            <a:ext cx="9767887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600"/>
              <a:buFont typeface="Cambria"/>
              <a:buNone/>
            </a:pPr>
            <a:r>
              <a:rPr lang="en-US" sz="2600" b="1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ABSTRACT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33658" y="2259464"/>
            <a:ext cx="10924684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dynamic allocation of capital across multiple heterogeneous asset classes remains a challenging problem due to complex interdependencies, non-stationary market dynamics, and the integration of diverse information sources. This work proposes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Transformer-Boost-Reinforcement Learning (HTBR) framework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dynamic multi-asset portfolio optimization across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Stocks, Forex, and Bullion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framework combines a Transformer-based encoder for deep contextual feature extraction and sentiment integration, a Gradient Boosting Decision Tree (GBDT) for predictive signal refinement, and a Proximal Policy Optimization (PPO) agent for adaptive allocation policy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6539-02C1-08FA-1606-66F87B90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9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C85DE-D196-D8A7-45A5-0D995423D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396" y="1507068"/>
            <a:ext cx="10771208" cy="4724399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multi-asset portfolio optimization faces three core challenges: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High-dimensional and non-stationary market environments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Asset correlations, volatilities, and macroeconomic drivers change over time, making static allocation strategies suboptimal.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predictive integration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Existing AI and RL-based approaches often rely on raw price data or simple indicators, failing to capture deep contextual dependencies across multiple asset classes or integrate alternative data sources like sentiment effectively.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Bridging prediction and decision-making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While predictive models can forecast price movements, translating these forecasts risk-adjusted allocation strategies remains non-trivial, especially under transaction cost and risk constraints.</a:t>
            </a:r>
          </a:p>
          <a:p>
            <a:pPr marL="11430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project addresses these challenges through the Hierarchical Transformer-Boost-RL (HTBR) framework, which employs a three-tier architecture.</a:t>
            </a:r>
          </a:p>
        </p:txBody>
      </p:sp>
    </p:spTree>
    <p:extLst>
      <p:ext uri="{BB962C8B-B14F-4D97-AF65-F5344CB8AC3E}">
        <p14:creationId xmlns:p14="http://schemas.microsoft.com/office/powerpoint/2010/main" val="253085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71AD208-D1DA-7C05-3DA9-9DA9C4968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2265" y="246677"/>
            <a:ext cx="3787470" cy="829193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E2972A-5260-C2AD-D4C4-C2AFC3F87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425268"/>
              </p:ext>
            </p:extLst>
          </p:nvPr>
        </p:nvGraphicFramePr>
        <p:xfrm>
          <a:off x="373323" y="1075870"/>
          <a:ext cx="11445353" cy="55553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8492">
                  <a:extLst>
                    <a:ext uri="{9D8B030D-6E8A-4147-A177-3AD203B41FA5}">
                      <a16:colId xmlns:a16="http://schemas.microsoft.com/office/drawing/2014/main" val="3905692903"/>
                    </a:ext>
                  </a:extLst>
                </a:gridCol>
                <a:gridCol w="1098018">
                  <a:extLst>
                    <a:ext uri="{9D8B030D-6E8A-4147-A177-3AD203B41FA5}">
                      <a16:colId xmlns:a16="http://schemas.microsoft.com/office/drawing/2014/main" val="828867951"/>
                    </a:ext>
                  </a:extLst>
                </a:gridCol>
                <a:gridCol w="1371336">
                  <a:extLst>
                    <a:ext uri="{9D8B030D-6E8A-4147-A177-3AD203B41FA5}">
                      <a16:colId xmlns:a16="http://schemas.microsoft.com/office/drawing/2014/main" val="263293751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273381899"/>
                    </a:ext>
                  </a:extLst>
                </a:gridCol>
                <a:gridCol w="1899138">
                  <a:extLst>
                    <a:ext uri="{9D8B030D-6E8A-4147-A177-3AD203B41FA5}">
                      <a16:colId xmlns:a16="http://schemas.microsoft.com/office/drawing/2014/main" val="3359667448"/>
                    </a:ext>
                  </a:extLst>
                </a:gridCol>
                <a:gridCol w="1805354">
                  <a:extLst>
                    <a:ext uri="{9D8B030D-6E8A-4147-A177-3AD203B41FA5}">
                      <a16:colId xmlns:a16="http://schemas.microsoft.com/office/drawing/2014/main" val="2849792681"/>
                    </a:ext>
                  </a:extLst>
                </a:gridCol>
                <a:gridCol w="1887415">
                  <a:extLst>
                    <a:ext uri="{9D8B030D-6E8A-4147-A177-3AD203B41FA5}">
                      <a16:colId xmlns:a16="http://schemas.microsoft.com/office/drawing/2014/main" val="1261132696"/>
                    </a:ext>
                  </a:extLst>
                </a:gridCol>
              </a:tblGrid>
              <a:tr h="579608">
                <a:tc>
                  <a:txBody>
                    <a:bodyPr/>
                    <a:lstStyle/>
                    <a:p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08648"/>
                  </a:ext>
                </a:extLst>
              </a:tr>
              <a:tr h="2141084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Risk-Adjusted Deep Reinforcement Learning for Portfolio Optimization: A Multi-reward Approach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(2025)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Himanshu Choudhary,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Arishi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Orra, Kartik Sahoo, Manoj Thakur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Trains three PPO agents on distinct rewards (log returns, differential Sharpe ratio, maximum drawdown) and fuses actions via a CNN for risk-adjusted portfolio optimization, tested on Sensex, Dow, TWSE, and IBEX datasets.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multiple reward functions for balanced risk-return optimization, outperforms benchmarks in diverse markets, incorporates supervised pre-training for better generalization..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unified three-tier architectures combining feature extraction, predictive refinement, and decision-making; insufficient modeling of transaction costs and changing asset correlations; limited integration of alternative data like sentiment.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(Trading Period: January 1, 2021 - March 31, 2024)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Cumulative Return (CR):124.83%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Annualized Return (AR):29.03%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Sharpe Ratio (SR):1.69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Annual Volatility (AV):14.20%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263864"/>
                  </a:ext>
                </a:extLst>
              </a:tr>
              <a:tr h="2323034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FD-RLPO: Feature Domain-based Reinforcement Learning Framework for Portfolio Optimization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(2025)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Jingyuan Feng,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Qiyue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Wu, Fan 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Prediction and Relation Modules with SAC agent; Prediction uses Transformer with inversion mechanism for intra-domain features; Relation employs self-supervised learning for inter-domain relationships; tested on CSI-300 and NASDAQ-100.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Captures both intra- and inter-domain features to handle market volatility, achieves superior ARR and ASR, robust to noise via self-supervised reconstruction.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intermediate refinement between embeddings and RL policy; limited integration of alternative data (e.g., sentiment) into multi-asset optimization; insufficient modeling of transaction costs.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CSI-300 Dataset Results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Annualized Return Rate (ARR): 25.28%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Annualized Sharpe Ratio (ASR): 1.31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Drawdown (MDD): 56.51%</a:t>
                      </a:r>
                    </a:p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NASDAQ-100 Dataset Results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Annualized Return Rate (ARR): 31.8%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Annualized Sharpe Ratio (ASR): 2.07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Drawdown (MDD): 48.84%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147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353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2A413-CBAB-7AE5-45E4-C0AD41AAC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F1D16D2-EFC9-B249-61A4-DB44B554C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2265" y="222293"/>
            <a:ext cx="3787470" cy="829193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5D683E-FD7C-C764-511A-EEF78F2DF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316723"/>
              </p:ext>
            </p:extLst>
          </p:nvPr>
        </p:nvGraphicFramePr>
        <p:xfrm>
          <a:off x="373323" y="1051486"/>
          <a:ext cx="11445353" cy="5233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8492">
                  <a:extLst>
                    <a:ext uri="{9D8B030D-6E8A-4147-A177-3AD203B41FA5}">
                      <a16:colId xmlns:a16="http://schemas.microsoft.com/office/drawing/2014/main" val="3905692903"/>
                    </a:ext>
                  </a:extLst>
                </a:gridCol>
                <a:gridCol w="1098018">
                  <a:extLst>
                    <a:ext uri="{9D8B030D-6E8A-4147-A177-3AD203B41FA5}">
                      <a16:colId xmlns:a16="http://schemas.microsoft.com/office/drawing/2014/main" val="828867951"/>
                    </a:ext>
                  </a:extLst>
                </a:gridCol>
                <a:gridCol w="1371336">
                  <a:extLst>
                    <a:ext uri="{9D8B030D-6E8A-4147-A177-3AD203B41FA5}">
                      <a16:colId xmlns:a16="http://schemas.microsoft.com/office/drawing/2014/main" val="263293751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273381899"/>
                    </a:ext>
                  </a:extLst>
                </a:gridCol>
                <a:gridCol w="1899138">
                  <a:extLst>
                    <a:ext uri="{9D8B030D-6E8A-4147-A177-3AD203B41FA5}">
                      <a16:colId xmlns:a16="http://schemas.microsoft.com/office/drawing/2014/main" val="3359667448"/>
                    </a:ext>
                  </a:extLst>
                </a:gridCol>
                <a:gridCol w="1805354">
                  <a:extLst>
                    <a:ext uri="{9D8B030D-6E8A-4147-A177-3AD203B41FA5}">
                      <a16:colId xmlns:a16="http://schemas.microsoft.com/office/drawing/2014/main" val="2849792681"/>
                    </a:ext>
                  </a:extLst>
                </a:gridCol>
                <a:gridCol w="1887415">
                  <a:extLst>
                    <a:ext uri="{9D8B030D-6E8A-4147-A177-3AD203B41FA5}">
                      <a16:colId xmlns:a16="http://schemas.microsoft.com/office/drawing/2014/main" val="1261132696"/>
                    </a:ext>
                  </a:extLst>
                </a:gridCol>
              </a:tblGrid>
              <a:tr h="552250">
                <a:tc>
                  <a:txBody>
                    <a:bodyPr/>
                    <a:lstStyle/>
                    <a:p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08648"/>
                  </a:ext>
                </a:extLst>
              </a:tr>
              <a:tr h="2358426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Novel RMS-Driven Deep Reinforcement Learning for Optimized Portfolio Management in Stock Trading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(2025)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Sattar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Utilizes RMS (Risk Management System)-driven DRL with PPO for dynamic portfolio adjustments, incorporating risk metrics and market indicators for stock trading optimization.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risk management with adaptive learning, improves returns in volatile markets, effective for real-time trading decisions.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stock assets without multi-class heterogeneity; lacks deep sentiment integration; insufficient handling of non-stationary environments and transaction costs.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Performing Model: 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A2C-RMS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Cumulative Return: 27%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Annualized Return: 10%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Sharpe Ratio: 0.66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Sortino Ratio: 0.96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Drawdown: 0.21788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263864"/>
                  </a:ext>
                </a:extLst>
              </a:tr>
              <a:tr h="2323034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FreQuant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 Reinforcement-Learning based Adaptive Portfolio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 with Multi-frequency Decomposition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(2025)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Jihyeong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Jeon, Jiwon Park,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Chanhee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Park, U Kang (Seoul National University &amp;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DeepTrade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Technologies Inc.)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FreQuant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a deep reinforcement learning framework that operates fully in the frequency domain using Discrete Fourier Transform (DFT) to extract multi-frequency features from asset price signals, capturing both prevalent low-frequency patterns and abrupt high-frequency changes.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Multi-granular Pattern Capture: Frequency-domain approach enables effective modeling of both persistent market trends and sudden shifts, enhancing sensitivity to abrupt events that time-domain models often overlook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Complexity: Requires substantial computational resources due to complex frequency-domain transformations and multiple neural network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 (Annualized Rate of Return): 36.25%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ASR (Annualized Sharpe Ratio): 0.77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147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376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94FEB-5356-0A19-05F0-2A18F510D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E8ECF1-E2A6-3B8F-B611-AB446B6CD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2265" y="392981"/>
            <a:ext cx="3787470" cy="829193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B1EAA2-37FA-5B3B-F42D-BAE90762F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8932"/>
              </p:ext>
            </p:extLst>
          </p:nvPr>
        </p:nvGraphicFramePr>
        <p:xfrm>
          <a:off x="348062" y="1222174"/>
          <a:ext cx="11445353" cy="5233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8492">
                  <a:extLst>
                    <a:ext uri="{9D8B030D-6E8A-4147-A177-3AD203B41FA5}">
                      <a16:colId xmlns:a16="http://schemas.microsoft.com/office/drawing/2014/main" val="3905692903"/>
                    </a:ext>
                  </a:extLst>
                </a:gridCol>
                <a:gridCol w="1098018">
                  <a:extLst>
                    <a:ext uri="{9D8B030D-6E8A-4147-A177-3AD203B41FA5}">
                      <a16:colId xmlns:a16="http://schemas.microsoft.com/office/drawing/2014/main" val="828867951"/>
                    </a:ext>
                  </a:extLst>
                </a:gridCol>
                <a:gridCol w="1371336">
                  <a:extLst>
                    <a:ext uri="{9D8B030D-6E8A-4147-A177-3AD203B41FA5}">
                      <a16:colId xmlns:a16="http://schemas.microsoft.com/office/drawing/2014/main" val="263293751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273381899"/>
                    </a:ext>
                  </a:extLst>
                </a:gridCol>
                <a:gridCol w="1899138">
                  <a:extLst>
                    <a:ext uri="{9D8B030D-6E8A-4147-A177-3AD203B41FA5}">
                      <a16:colId xmlns:a16="http://schemas.microsoft.com/office/drawing/2014/main" val="3359667448"/>
                    </a:ext>
                  </a:extLst>
                </a:gridCol>
                <a:gridCol w="1805354">
                  <a:extLst>
                    <a:ext uri="{9D8B030D-6E8A-4147-A177-3AD203B41FA5}">
                      <a16:colId xmlns:a16="http://schemas.microsoft.com/office/drawing/2014/main" val="2849792681"/>
                    </a:ext>
                  </a:extLst>
                </a:gridCol>
                <a:gridCol w="1887415">
                  <a:extLst>
                    <a:ext uri="{9D8B030D-6E8A-4147-A177-3AD203B41FA5}">
                      <a16:colId xmlns:a16="http://schemas.microsoft.com/office/drawing/2014/main" val="1261132696"/>
                    </a:ext>
                  </a:extLst>
                </a:gridCol>
              </a:tblGrid>
              <a:tr h="552250">
                <a:tc>
                  <a:txBody>
                    <a:bodyPr/>
                    <a:lstStyle/>
                    <a:p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08648"/>
                  </a:ext>
                </a:extLst>
              </a:tr>
              <a:tr h="2358426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High-dimensional multi-period portfolio allocation using deep reinforcement learning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(2025)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Majed Atwi, Jose Olmo, Yifu Jiang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Portfolio Policy Framework combining three key components: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Convolutional Neural Networks (CNN) for extracting dynamic patterns in asset prices</a:t>
                      </a:r>
                    </a:p>
                    <a:p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WaveNet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for capturing group-wise asset dependence and cross-correlations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Reinforcement Learning (DRL) for optimal asset allocation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High-Dimensional Capability: Handles portfolios with 50+ assets efficiently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Multi-Period Optimization: Captures long-term investment dynamics vs. myopic strategies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Cross-Asset Dependencies: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WaveNet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captures complex correlations traditional methods miss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Long-Only Positions: No short selling capability limits strategic flexibility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Asset Class: Focus primarily on equity markets without multi-asset heterogeneity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Hyperparameter Sensitivity: Performance dependent on careful parameter 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h=1: 12.48% annual return, 0.508 Sharpe ratio, 39.80% max drawdown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h=22: 22.37% annual return, 0.603 Sharpe ratio, 44.13% max drawdown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h=36: 29.21% annual return, 0.808 Sharpe ratio, 32.09% max drawdown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263864"/>
                  </a:ext>
                </a:extLst>
              </a:tr>
              <a:tr h="2323034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gymfolio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 Reinforcement learning environment for Portfolio Optimization in Python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Francisco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Espiga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-Fernández, Álvaro García-Sánchez, Joaquín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Ordieres-Meré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(Universidad Politécnica de Madrid, Spain)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gymfolio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a modular and flexible Python framework built around the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PortfolioOptimizationEnv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class, providing a comprehensive environment for portfolio optimization using reinforcement learning. The framework integrates seamlessly with Gymnasium package and modern RL libraries (Stable-Baselines3,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RLLib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offering three distinct observation modes: vector mode (1D arrays for MLPs), tile mode (2D structures for RNNs), and tensor mode (3D tensors for CNNs).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Modular Architecture: Highly customizable environment supporting extensions for diverse investment goals and trading scenarios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Multi-Modal Compatibility: Flexible observation spaces optimized for different ML architectures (CNNs, RNNs, MLPs)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Data Gap: Currently lacks direct support for live market data ingestion, limiting real-world trading applications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Framework Dependency: Performance ultimately depends on the underlying RL algorithms implemented by users</a:t>
                      </a:r>
                    </a:p>
                    <a:p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Demonstration Results: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Environment: S&amp;P500 index components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Agent: PPO (Proximal Policy Optimization) from Stable-Baselines3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Training: 10,000 timesteps (≈40 simulated years)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Rebalancing: Every 5 days (weekly)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147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4826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50491-5CDC-72A3-BAD6-9288931CD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99F1F83-8150-3D4F-6746-C39F930DF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2265" y="392981"/>
            <a:ext cx="3787470" cy="829193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13E19A-8260-EB71-6849-0FA3776AD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955211"/>
              </p:ext>
            </p:extLst>
          </p:nvPr>
        </p:nvGraphicFramePr>
        <p:xfrm>
          <a:off x="348062" y="1222174"/>
          <a:ext cx="11445353" cy="5233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8492">
                  <a:extLst>
                    <a:ext uri="{9D8B030D-6E8A-4147-A177-3AD203B41FA5}">
                      <a16:colId xmlns:a16="http://schemas.microsoft.com/office/drawing/2014/main" val="3905692903"/>
                    </a:ext>
                  </a:extLst>
                </a:gridCol>
                <a:gridCol w="1098018">
                  <a:extLst>
                    <a:ext uri="{9D8B030D-6E8A-4147-A177-3AD203B41FA5}">
                      <a16:colId xmlns:a16="http://schemas.microsoft.com/office/drawing/2014/main" val="828867951"/>
                    </a:ext>
                  </a:extLst>
                </a:gridCol>
                <a:gridCol w="1371336">
                  <a:extLst>
                    <a:ext uri="{9D8B030D-6E8A-4147-A177-3AD203B41FA5}">
                      <a16:colId xmlns:a16="http://schemas.microsoft.com/office/drawing/2014/main" val="263293751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273381899"/>
                    </a:ext>
                  </a:extLst>
                </a:gridCol>
                <a:gridCol w="1899138">
                  <a:extLst>
                    <a:ext uri="{9D8B030D-6E8A-4147-A177-3AD203B41FA5}">
                      <a16:colId xmlns:a16="http://schemas.microsoft.com/office/drawing/2014/main" val="3359667448"/>
                    </a:ext>
                  </a:extLst>
                </a:gridCol>
                <a:gridCol w="1805354">
                  <a:extLst>
                    <a:ext uri="{9D8B030D-6E8A-4147-A177-3AD203B41FA5}">
                      <a16:colId xmlns:a16="http://schemas.microsoft.com/office/drawing/2014/main" val="2849792681"/>
                    </a:ext>
                  </a:extLst>
                </a:gridCol>
                <a:gridCol w="1887415">
                  <a:extLst>
                    <a:ext uri="{9D8B030D-6E8A-4147-A177-3AD203B41FA5}">
                      <a16:colId xmlns:a16="http://schemas.microsoft.com/office/drawing/2014/main" val="1261132696"/>
                    </a:ext>
                  </a:extLst>
                </a:gridCol>
              </a:tblGrid>
              <a:tr h="552250">
                <a:tc>
                  <a:txBody>
                    <a:bodyPr/>
                    <a:lstStyle/>
                    <a:p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08648"/>
                  </a:ext>
                </a:extLst>
              </a:tr>
              <a:tr h="2358426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Deep Reinforcement Learning Framework for Dynamic Portfolio Optimization(2024)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n-NO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Gang Huang, Xiaohua Zhou, </a:t>
                      </a:r>
                      <a:r>
                        <a:rPr lang="nn-NO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Qingyang</a:t>
                      </a:r>
                      <a:r>
                        <a:rPr lang="nn-NO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introduces an Actor–Critic reinforcement learning framework that uses the Sharpe ratio as the reward function to directly optimize risk-adjusted returns. Financial time-series data are encoded into image-like formats, enabling the model to capture complex spatial–temporal features, while random sampling is applied during training to improve robustness.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 optimizing for the Sharpe ratio, the model achieves more stable training and better alignment with financial objectives. Image-based encoding enhances pattern recognition, and random sampling reduces overfitting, improving generalization to unseen data.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approach is computationally demanding and requires careful tuning. The complexity of the architecture also limits interpretability, making it less transparent for real-world financial decision-making.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 (6-month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backtesting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CSI 300 stocks):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Annualized Return: 19.56%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Sharpe Ratio: 1.555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Sortino Ratio: 2.957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Drawdown: 5.85%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Calmar Ratio: 3.340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263864"/>
                  </a:ext>
                </a:extLst>
              </a:tr>
              <a:tr h="2323034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Novel Deep Reinforcement Learning Framework with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-Attention Networks for Algorithmic Trading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(2024)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Yuling Huang,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Xiaoxiao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Wan, Lin Zhang, Xiaoping 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</a:t>
                      </a: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</a:t>
                      </a:r>
                      <a:r>
                        <a:rPr lang="en-US" sz="12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networks with an attention mechanism 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a deep SARSA-based reinforcement learning framework to capture temporal patterns and key features in financial data for trading decisions.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-Attention framework effectively captures complex temporal patterns in financial data, enhancing cumulative returns and risk-adjusted performance while remaining robust in dynamic market conditions.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model is sensitive to the quality and quantity of input data, requires significant computational resources for training, and its complex architecture limits interpretability of trading decisions.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Cumulative Return: 582.17%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Annualized Return: 25.34%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Sharpe Ratio: 1.86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147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2025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556DF-38EF-874F-63A2-D17E4A448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170ABC2-F01D-A5C8-3363-1CABC794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2265" y="392981"/>
            <a:ext cx="3787470" cy="829193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76582B-1D06-EF9F-FEDE-16FB87B9F3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685902"/>
              </p:ext>
            </p:extLst>
          </p:nvPr>
        </p:nvGraphicFramePr>
        <p:xfrm>
          <a:off x="348062" y="1222174"/>
          <a:ext cx="11544554" cy="5233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7693">
                  <a:extLst>
                    <a:ext uri="{9D8B030D-6E8A-4147-A177-3AD203B41FA5}">
                      <a16:colId xmlns:a16="http://schemas.microsoft.com/office/drawing/2014/main" val="3905692903"/>
                    </a:ext>
                  </a:extLst>
                </a:gridCol>
                <a:gridCol w="1098018">
                  <a:extLst>
                    <a:ext uri="{9D8B030D-6E8A-4147-A177-3AD203B41FA5}">
                      <a16:colId xmlns:a16="http://schemas.microsoft.com/office/drawing/2014/main" val="828867951"/>
                    </a:ext>
                  </a:extLst>
                </a:gridCol>
                <a:gridCol w="1371336">
                  <a:extLst>
                    <a:ext uri="{9D8B030D-6E8A-4147-A177-3AD203B41FA5}">
                      <a16:colId xmlns:a16="http://schemas.microsoft.com/office/drawing/2014/main" val="263293751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273381899"/>
                    </a:ext>
                  </a:extLst>
                </a:gridCol>
                <a:gridCol w="1899138">
                  <a:extLst>
                    <a:ext uri="{9D8B030D-6E8A-4147-A177-3AD203B41FA5}">
                      <a16:colId xmlns:a16="http://schemas.microsoft.com/office/drawing/2014/main" val="3359667448"/>
                    </a:ext>
                  </a:extLst>
                </a:gridCol>
                <a:gridCol w="1805354">
                  <a:extLst>
                    <a:ext uri="{9D8B030D-6E8A-4147-A177-3AD203B41FA5}">
                      <a16:colId xmlns:a16="http://schemas.microsoft.com/office/drawing/2014/main" val="2849792681"/>
                    </a:ext>
                  </a:extLst>
                </a:gridCol>
                <a:gridCol w="1887415">
                  <a:extLst>
                    <a:ext uri="{9D8B030D-6E8A-4147-A177-3AD203B41FA5}">
                      <a16:colId xmlns:a16="http://schemas.microsoft.com/office/drawing/2014/main" val="1261132696"/>
                    </a:ext>
                  </a:extLst>
                </a:gridCol>
              </a:tblGrid>
              <a:tr h="552250">
                <a:tc>
                  <a:txBody>
                    <a:bodyPr/>
                    <a:lstStyle/>
                    <a:p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08648"/>
                  </a:ext>
                </a:extLst>
              </a:tr>
              <a:tr h="2358426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Mercury: A Deep Reinforcement Learning-Based Investment Portfolio Strategy for Risk-Return Balance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(2023)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Zeng-Liang Bai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RL framework (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ConvLSTM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Hypergraph Attention + Market Preference module) for portfolio with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spatio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-temporal and sentiment modeling; focuses on risk-return tradeoff, low-correlation asset selection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 training, incorporates text sentiment and market structure, superior risk-adjusted returns on over 3,300 days of A-Share data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financial text data, tested mainly on China market, higher complexity and hyperparameter sensitivity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Annualized Return: 28.47%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Sharpe Ratio: 1.2431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Drawdown: 14.14%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Calmar Ratio: 2.0145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263864"/>
                  </a:ext>
                </a:extLst>
              </a:tr>
              <a:tr h="2323034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Deep Reinforcement Learning-Based Decision Support System for Automated Stock Market Trading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(2022)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Yasmeen Ansari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DQN/GRU-based system utilizing both past and forecasted (GRU-predicted) price data as state, applied on multi-market real stock data, uses experience replay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future awareness with historical trends for more optimal buy/sell/hold decisions, proven across 10+ international datasets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uses closing prices (ignores technical/sentiment info), basic reward structure, no explicit risk-control, only supports DQN variant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 (RMSE, MSE, MAE):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Tesla Stock: RMSE: 0.05, MSE: 0.003, MAE: 0.04 (1-day lookback)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IBM Stock: RMSE: 0.02, MSE: 0.0006, MAE: 0.01</a:t>
                      </a:r>
                    </a:p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Amazon Stock: RMSE: 0.08, MSE: 0.007, MAE: 0.7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147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526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5BCDD-36E1-32BA-2F77-6FF1B0511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4D434F-3B97-9986-7DB8-9E928F895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2265" y="392981"/>
            <a:ext cx="3787470" cy="829193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55FC63-2BCB-2707-8282-F64BAEA1E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275135"/>
              </p:ext>
            </p:extLst>
          </p:nvPr>
        </p:nvGraphicFramePr>
        <p:xfrm>
          <a:off x="348062" y="1222174"/>
          <a:ext cx="11445353" cy="5233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8492">
                  <a:extLst>
                    <a:ext uri="{9D8B030D-6E8A-4147-A177-3AD203B41FA5}">
                      <a16:colId xmlns:a16="http://schemas.microsoft.com/office/drawing/2014/main" val="3905692903"/>
                    </a:ext>
                  </a:extLst>
                </a:gridCol>
                <a:gridCol w="1098018">
                  <a:extLst>
                    <a:ext uri="{9D8B030D-6E8A-4147-A177-3AD203B41FA5}">
                      <a16:colId xmlns:a16="http://schemas.microsoft.com/office/drawing/2014/main" val="828867951"/>
                    </a:ext>
                  </a:extLst>
                </a:gridCol>
                <a:gridCol w="1371336">
                  <a:extLst>
                    <a:ext uri="{9D8B030D-6E8A-4147-A177-3AD203B41FA5}">
                      <a16:colId xmlns:a16="http://schemas.microsoft.com/office/drawing/2014/main" val="263293751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273381899"/>
                    </a:ext>
                  </a:extLst>
                </a:gridCol>
                <a:gridCol w="1899138">
                  <a:extLst>
                    <a:ext uri="{9D8B030D-6E8A-4147-A177-3AD203B41FA5}">
                      <a16:colId xmlns:a16="http://schemas.microsoft.com/office/drawing/2014/main" val="3359667448"/>
                    </a:ext>
                  </a:extLst>
                </a:gridCol>
                <a:gridCol w="1805354">
                  <a:extLst>
                    <a:ext uri="{9D8B030D-6E8A-4147-A177-3AD203B41FA5}">
                      <a16:colId xmlns:a16="http://schemas.microsoft.com/office/drawing/2014/main" val="2849792681"/>
                    </a:ext>
                  </a:extLst>
                </a:gridCol>
                <a:gridCol w="1887415">
                  <a:extLst>
                    <a:ext uri="{9D8B030D-6E8A-4147-A177-3AD203B41FA5}">
                      <a16:colId xmlns:a16="http://schemas.microsoft.com/office/drawing/2014/main" val="1261132696"/>
                    </a:ext>
                  </a:extLst>
                </a:gridCol>
              </a:tblGrid>
              <a:tr h="552250">
                <a:tc>
                  <a:txBody>
                    <a:bodyPr/>
                    <a:lstStyle/>
                    <a:p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08648"/>
                  </a:ext>
                </a:extLst>
              </a:tr>
              <a:tr h="2358426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MA-FDRNN: Multi-Asset Fuzzy Deep Recurrent Neural Network Reinforcement Learning for Portfolio Management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(2021)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Tarrin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Skeepers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Terence L. van Zyl, Andrew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Paskaramoorthy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Extends FDRNN to multi-asset markets using fuzzy representation, deep RNN for feature learning, and RL for policy optimization; allows short positions; compared with DDPG, PPO, EIIE on TSE, FSE, JSE, Dow, B3.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short positions for better performance in bear and sideways markets, outperforms benchmarks in specific conditions, handles multi-asset dynamics effectively.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unified three-tier architectures; limited predictive integration relying on raw data without deep contextual dependencies or sentiment; insufficient handling of non-stationary environments and transaction costs.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TSE (Japan):</a:t>
                      </a:r>
                      <a:b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CR: 1.06, SR: 0.04, MDD: 0.13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JSE (S. Africa):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CR: 1.33, SR: -0.26, MDD: 0.13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FSE (Germany):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CR: 0.88, SR: 0.04, MDD: 0.18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263864"/>
                  </a:ext>
                </a:extLst>
              </a:tr>
              <a:tr h="2323034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Reinforcement Learning for Automated Stock Trading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(2021)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Xiao-Yang Liu, Ziyi Xia,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Jingyang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Rui,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Jiechao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Gao,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Hongyang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Yang, Ming Zhu, Christina Dan Wang,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Zhaoran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Wang, Jian Guo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ensemble of DRL agents (PPO, A2C, DDPG) with technical indicators and turbulence index for state augmentation; incorporates transaction costs and multi-stock trading.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multiple stocks with risk-aware strategies, outperforms market benchmarks in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backtests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incorporates practical constraints like costs.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predictive integration failing to capture deep contextual dependencies across asset classes; no explicit sentiment integration; bridging prediction and decision-making under constraints remains non-trivial.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Ensemble Strategy</a:t>
                      </a: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: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Final Value:$1.52M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Annualized Return: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52.61%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Annualized Volatility: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15.53%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Sharpe Ratio: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1.30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(All results based on $1M initial investment)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147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18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361E5-ED8C-3786-BF7C-2E5B0CA28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47CF6B4-EAE5-D577-B715-2D52A956E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2265" y="392981"/>
            <a:ext cx="3787470" cy="829193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A5F838-62AA-05FA-63A8-332638DC3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51386"/>
              </p:ext>
            </p:extLst>
          </p:nvPr>
        </p:nvGraphicFramePr>
        <p:xfrm>
          <a:off x="348062" y="1222174"/>
          <a:ext cx="11445353" cy="53441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8492">
                  <a:extLst>
                    <a:ext uri="{9D8B030D-6E8A-4147-A177-3AD203B41FA5}">
                      <a16:colId xmlns:a16="http://schemas.microsoft.com/office/drawing/2014/main" val="3905692903"/>
                    </a:ext>
                  </a:extLst>
                </a:gridCol>
                <a:gridCol w="1098018">
                  <a:extLst>
                    <a:ext uri="{9D8B030D-6E8A-4147-A177-3AD203B41FA5}">
                      <a16:colId xmlns:a16="http://schemas.microsoft.com/office/drawing/2014/main" val="828867951"/>
                    </a:ext>
                  </a:extLst>
                </a:gridCol>
                <a:gridCol w="1371336">
                  <a:extLst>
                    <a:ext uri="{9D8B030D-6E8A-4147-A177-3AD203B41FA5}">
                      <a16:colId xmlns:a16="http://schemas.microsoft.com/office/drawing/2014/main" val="263293751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273381899"/>
                    </a:ext>
                  </a:extLst>
                </a:gridCol>
                <a:gridCol w="1899138">
                  <a:extLst>
                    <a:ext uri="{9D8B030D-6E8A-4147-A177-3AD203B41FA5}">
                      <a16:colId xmlns:a16="http://schemas.microsoft.com/office/drawing/2014/main" val="3359667448"/>
                    </a:ext>
                  </a:extLst>
                </a:gridCol>
                <a:gridCol w="1805354">
                  <a:extLst>
                    <a:ext uri="{9D8B030D-6E8A-4147-A177-3AD203B41FA5}">
                      <a16:colId xmlns:a16="http://schemas.microsoft.com/office/drawing/2014/main" val="2849792681"/>
                    </a:ext>
                  </a:extLst>
                </a:gridCol>
                <a:gridCol w="1887415">
                  <a:extLst>
                    <a:ext uri="{9D8B030D-6E8A-4147-A177-3AD203B41FA5}">
                      <a16:colId xmlns:a16="http://schemas.microsoft.com/office/drawing/2014/main" val="1261132696"/>
                    </a:ext>
                  </a:extLst>
                </a:gridCol>
              </a:tblGrid>
              <a:tr h="552250">
                <a:tc>
                  <a:txBody>
                    <a:bodyPr/>
                    <a:lstStyle/>
                    <a:p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08648"/>
                  </a:ext>
                </a:extLst>
              </a:tr>
              <a:tr h="2358426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FinRL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 Deep Reinforcement Learning Library for Automated Stock Trading in Quantitative Finance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(2021)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Xiao-Yang Liu,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Hongyang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Yang, Qian Chen,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Runjia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Zhang,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Liuqing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Yang, Bowen Xiao, Christina Dan Wang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 framework with multiple DRL algorithms (DQN, DDPG, PPO, SAC, A2C, TD3) for portfolio allocation, incorporating plugins for data, environments, and agents.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Modular and extensible library for easy experimentation, supports risk-averse strategies, demonstrates superior performance in US and Chinese markets.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integration of alternative data sources; existing approaches rely on simple indicators without deep contextual or sentiment analysis; insufficient bridging of prediction to risk-adjusted allocation.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Ensemble Strategy</a:t>
                      </a: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: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Final Value:$1.46M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Annualized Return: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46.65%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Annualized Volatility: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15.53%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Sharpe Ratio: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2.24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Max Drawdown: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-7.59%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(Initial investment: $1M across all strategies)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263864"/>
                  </a:ext>
                </a:extLst>
              </a:tr>
              <a:tr h="2323034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Deep Reinforcement Learning for Portfolio Management: An Empirical Approach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(2021)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Mao Guan, Xiao-Yang Liu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Applies DRL (PPO) with explainability via SHAP values; focuses on interpretable portfolio decisions using technical indicators.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interpretability to black-box DRL models, improves trust in decisions, effective for stock portfolios.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explicit multi-asset class handling; limited predictive integration without sentiment or advanced feature refinement; gaps in handling non-stationary environments and transaction costs.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Return Metrics: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Annualized Returns: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15-25% 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Sharpe Ratio: 1.2-2.0 Maximum Drawdown: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5-15% </a:t>
                      </a:r>
                    </a:p>
                    <a:p>
                      <a:r>
                        <a:rPr lang="en-IN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Explainability Metrics:</a:t>
                      </a:r>
                    </a:p>
                    <a:p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Fidelity Score: 85-95%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147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192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A4051-2B57-8217-BE7D-DB4EDEABB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F460835-15FF-B2DA-6E3A-2ABA0CB7B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2265" y="145816"/>
            <a:ext cx="3787470" cy="829193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3266FC-9E4A-636C-E7D2-CBC5EDD61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140603"/>
              </p:ext>
            </p:extLst>
          </p:nvPr>
        </p:nvGraphicFramePr>
        <p:xfrm>
          <a:off x="373323" y="975009"/>
          <a:ext cx="11445353" cy="54900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8492">
                  <a:extLst>
                    <a:ext uri="{9D8B030D-6E8A-4147-A177-3AD203B41FA5}">
                      <a16:colId xmlns:a16="http://schemas.microsoft.com/office/drawing/2014/main" val="3905692903"/>
                    </a:ext>
                  </a:extLst>
                </a:gridCol>
                <a:gridCol w="1098018">
                  <a:extLst>
                    <a:ext uri="{9D8B030D-6E8A-4147-A177-3AD203B41FA5}">
                      <a16:colId xmlns:a16="http://schemas.microsoft.com/office/drawing/2014/main" val="828867951"/>
                    </a:ext>
                  </a:extLst>
                </a:gridCol>
                <a:gridCol w="1371336">
                  <a:extLst>
                    <a:ext uri="{9D8B030D-6E8A-4147-A177-3AD203B41FA5}">
                      <a16:colId xmlns:a16="http://schemas.microsoft.com/office/drawing/2014/main" val="263293751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273381899"/>
                    </a:ext>
                  </a:extLst>
                </a:gridCol>
                <a:gridCol w="1899138">
                  <a:extLst>
                    <a:ext uri="{9D8B030D-6E8A-4147-A177-3AD203B41FA5}">
                      <a16:colId xmlns:a16="http://schemas.microsoft.com/office/drawing/2014/main" val="3359667448"/>
                    </a:ext>
                  </a:extLst>
                </a:gridCol>
                <a:gridCol w="1805354">
                  <a:extLst>
                    <a:ext uri="{9D8B030D-6E8A-4147-A177-3AD203B41FA5}">
                      <a16:colId xmlns:a16="http://schemas.microsoft.com/office/drawing/2014/main" val="2849792681"/>
                    </a:ext>
                  </a:extLst>
                </a:gridCol>
                <a:gridCol w="1887415">
                  <a:extLst>
                    <a:ext uri="{9D8B030D-6E8A-4147-A177-3AD203B41FA5}">
                      <a16:colId xmlns:a16="http://schemas.microsoft.com/office/drawing/2014/main" val="1261132696"/>
                    </a:ext>
                  </a:extLst>
                </a:gridCol>
              </a:tblGrid>
              <a:tr h="552250">
                <a:tc>
                  <a:txBody>
                    <a:bodyPr/>
                    <a:lstStyle/>
                    <a:p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08648"/>
                  </a:ext>
                </a:extLst>
              </a:tr>
              <a:tr h="2358426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Novel Deep Reinforcement Algorithm With Adaptive Sampling Strategy for Continuous Portfolio Optimization(2021)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Szu-Hao Huang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RL with adversarial learning (adds input noise for robustness), adaptive sampling strategy to emphasize underperforming assets, market representation network to capture latent risk information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Sharpe ratio and profit, improved robustness to noise, reduced maximum drawdown, efficient computational performance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Tested on 5-stock subsets from Dow, action space does not allow shorting, focus on simulated/controlled environments, still possible overfitting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Framework (</a:t>
                      </a:r>
                      <a:r>
                        <a:rPr lang="en-IN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PG+RP+adv</a:t>
                      </a: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Sharpe Ratio: 2.2x improvement over baseline PG method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 Enhancement: 22x increase compared to original model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Drawdown: 40%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Management: Superior risk control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263864"/>
                  </a:ext>
                </a:extLst>
              </a:tr>
              <a:tr h="2323034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Deep Reinforcement Learning Framework for the Financial Portfolio Management Problem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(2020)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Zhengyao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Jiang,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Dixing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Xu,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Jinjun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Employs Ensemble of Identical Independent Evaluators (EIIE) with CNN, RNN, LSTM topologies; uses DDPG for continuous portfolio allocation in cryptocurrencies.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Scales linearly with portfolio size, outperforms traditional strategies in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backtests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effective for high-dimensional action spaces.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Fails to integrate alternative data like sentiment; limited to single-asset class focus without multi-asset heterogeneity; no intermediate refinement between features and policy.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(CNN)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Final Portfolio Value (</a:t>
                      </a:r>
                      <a:r>
                        <a:rPr lang="en-IN" sz="12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fAPV</a:t>
                      </a: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):29.695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Sharpe Ratio:0.087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Maximum Drawdown:0.224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(</a:t>
                      </a:r>
                      <a:r>
                        <a:rPr lang="en-IN" sz="12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bRNN</a:t>
                      </a: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Final Portfolio Value (</a:t>
                      </a:r>
                      <a:r>
                        <a:rPr lang="en-IN" sz="12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fAPV</a:t>
                      </a: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):13.348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Sharpe Ratio:0.074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Maximum Drawdown:0.241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147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395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3952024" y="1156936"/>
            <a:ext cx="42879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EXISTING SOLUTIONS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823480" y="1505416"/>
            <a:ext cx="10545037" cy="384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&amp; Multi-Agent Deep Reinforcement Learning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Split the portfolio-allocation MDP into sub-tasks handled by separate agents (e.g., auxiliary explorer vs. executive allocator).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Risk-Adjusted Multi-Reward Fusion (RA-DRL)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Train several DRL agents on orthogonal reward signals (log-return, differential Sharpe, max-drawdown) and fuse their actions via a CNN.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Transformer-Centric Feature Pipelines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 self-attention to capture cross-asset co-movements; sometimes invert tokenisation (feature-wise rather than time-wise) to fight long-sequence volatility.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Low-Correlation Asset Selection via Reinforcement Screening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B9E8-CD6C-2A06-9563-5C7F1B334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0228" y="1076495"/>
            <a:ext cx="1093237" cy="530614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3583D20-F012-EAD9-A539-5471606BFC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6665" y="1872743"/>
            <a:ext cx="10498666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unified three-tier architectures combining feature extraction, predictive refinement, and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intermediate refinement between embeddings and RL policy.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alternative data (e.g., sentiment) into multi-asset optimization.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modelling of transaction costs and changing asset correlations.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dedicated refinement layer between embeddings and the RL policy.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adaptation to regime shifts and non-stationarity.</a:t>
            </a:r>
          </a:p>
        </p:txBody>
      </p:sp>
    </p:spTree>
    <p:extLst>
      <p:ext uri="{BB962C8B-B14F-4D97-AF65-F5344CB8AC3E}">
        <p14:creationId xmlns:p14="http://schemas.microsoft.com/office/powerpoint/2010/main" val="2418997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9A262-811C-4F1A-20F5-A8FE90EC7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607" y="1271058"/>
            <a:ext cx="3738785" cy="483960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2357B-1193-49D4-790C-BDADD08EF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755018"/>
            <a:ext cx="9601200" cy="371444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 Collection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Gather historical price data for Stocks, Forex, and Bullion, plus sentiment data.</a:t>
            </a:r>
          </a:p>
          <a:p>
            <a:pPr>
              <a:buFont typeface="Wingdings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Contextual Encoding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a Transformer model to generate deep contextual feature representations from multi-asset time series and sentiment inputs.</a:t>
            </a:r>
          </a:p>
          <a:p>
            <a:pPr>
              <a:buFont typeface="Wingdings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Decision Tree (GBDT) Refinement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Process Transformer outputs through a GBDT to produce predictive signals or refined features for each asset.</a:t>
            </a:r>
          </a:p>
          <a:p>
            <a:pPr>
              <a:buFont typeface="Wingdings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Representation for RL Agent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Construct the state vector from GBDT outputs, market context variables, and previous portfolio weights.</a:t>
            </a:r>
          </a:p>
        </p:txBody>
      </p:sp>
    </p:spTree>
    <p:extLst>
      <p:ext uri="{BB962C8B-B14F-4D97-AF65-F5344CB8AC3E}">
        <p14:creationId xmlns:p14="http://schemas.microsoft.com/office/powerpoint/2010/main" val="933862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DEF7F-6075-C926-D14E-ED101E30A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DA1B8-B9A1-4F2D-DB90-7BBE80F25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700" y="1271058"/>
            <a:ext cx="3872599" cy="483960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2640B-8597-CD91-5FA9-11F2446C0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755018"/>
            <a:ext cx="9601200" cy="371444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PPO-based Reinforcement Learning Agent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Proximal Policy Optimization to learn dynamic portfolio allocations (action space constrained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sum to 1).</a:t>
            </a:r>
          </a:p>
          <a:p>
            <a:pPr>
              <a:buFont typeface="Wingdings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Function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Optimize a risk-adjusted return objective that penalizes both volatility and excessive turnover.</a:t>
            </a:r>
          </a:p>
          <a:p>
            <a:pPr>
              <a:buFont typeface="Wingdings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Multi-Asset Simulation Environment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Simulate portfolio returns with realistic rebalancing, transaction costs, and risk estimation.</a:t>
            </a:r>
          </a:p>
          <a:p>
            <a:pPr>
              <a:buFont typeface="Wingdings" pitchFamily="2" charset="2"/>
              <a:buChar char="q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Walk-Forward Validation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Perform annual retraining over the 2008–2023 period to test out-of-sample performance.</a:t>
            </a:r>
          </a:p>
        </p:txBody>
      </p:sp>
    </p:spTree>
    <p:extLst>
      <p:ext uri="{BB962C8B-B14F-4D97-AF65-F5344CB8AC3E}">
        <p14:creationId xmlns:p14="http://schemas.microsoft.com/office/powerpoint/2010/main" val="2532502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9A1DB80-84BD-FE99-274E-93A3A7F59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740593"/>
              </p:ext>
            </p:extLst>
          </p:nvPr>
        </p:nvGraphicFramePr>
        <p:xfrm>
          <a:off x="791993" y="833795"/>
          <a:ext cx="10608013" cy="6254072"/>
        </p:xfrm>
        <a:graphic>
          <a:graphicData uri="http://schemas.openxmlformats.org/drawingml/2006/table">
            <a:tbl>
              <a:tblPr/>
              <a:tblGrid>
                <a:gridCol w="5309212">
                  <a:extLst>
                    <a:ext uri="{9D8B030D-6E8A-4147-A177-3AD203B41FA5}">
                      <a16:colId xmlns:a16="http://schemas.microsoft.com/office/drawing/2014/main" val="3699629185"/>
                    </a:ext>
                  </a:extLst>
                </a:gridCol>
                <a:gridCol w="5298801">
                  <a:extLst>
                    <a:ext uri="{9D8B030D-6E8A-4147-A177-3AD203B41FA5}">
                      <a16:colId xmlns:a16="http://schemas.microsoft.com/office/drawing/2014/main" val="1497007559"/>
                    </a:ext>
                  </a:extLst>
                </a:gridCol>
              </a:tblGrid>
              <a:tr h="387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618591"/>
                  </a:ext>
                </a:extLst>
              </a:tr>
              <a:tr h="1223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Novel integrated architecture combining Transformer (context + sentiment), GBDT (signal refinement), and PPO RL agent – relatively unexplored in literature.</a:t>
                      </a:r>
                    </a:p>
                    <a:p>
                      <a:pPr>
                        <a:buNone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Methodological complexity makes implementation, tuning, and debugging resource-intensive.</a:t>
                      </a:r>
                    </a:p>
                    <a:p>
                      <a:pPr>
                        <a:buNone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975878"/>
                  </a:ext>
                </a:extLst>
              </a:tr>
              <a:tr h="1434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multi-asset allocation across heterogeneous classes (Stocks, Forex, Bullion) instead of single-asset focus.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Sentiment data quality and stability may be noisy or unreliable, potentially harming performance in certain conditions.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469786"/>
                  </a:ext>
                </a:extLst>
              </a:tr>
              <a:tr h="1762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Incorporates financial sentiment analysis directly into the RL state, adding an alternative data dimension to decision-making.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explicit cash/risk-free option in action space – limits ability to fully de-risk in extreme market conditions.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158682"/>
                  </a:ext>
                </a:extLst>
              </a:tr>
              <a:tr h="984523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003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FF05C7D-C47D-0CE1-EA7D-94292D97DE1D}"/>
                  </a:ext>
                </a:extLst>
              </p14:cNvPr>
              <p14:cNvContentPartPr/>
              <p14:nvPr/>
            </p14:nvContentPartPr>
            <p14:xfrm>
              <a:off x="5831552" y="696071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FF05C7D-C47D-0CE1-EA7D-94292D97DE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25432" y="695459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8DC9-E758-839F-2D7A-31AB8448E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85F08-5DF5-F6A3-98E2-2DBF9F1DF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96" y="518512"/>
            <a:ext cx="1882698" cy="483960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47488-28B5-A789-CDB3-330B482CA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549" y="1136584"/>
            <a:ext cx="11038901" cy="5520248"/>
          </a:xfrm>
        </p:spPr>
        <p:txBody>
          <a:bodyPr>
            <a:normAutofit/>
          </a:bodyPr>
          <a:lstStyle/>
          <a:p>
            <a:pPr marL="5715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Choudhary, H., Orra, A., Sahoo, K., &amp; Thakur, M. (2025). Risk-adjusted deep reinforcement learning for portfolio optimization: A multi-reward approach.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Computational Intelligence Systems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126.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https://doi.org/10.1007/s44196-025-00875-8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Feng, J., Wu, Q., &amp; Lin, F. (2025). FD-RLPO: Feature domain-based reinforcement learning framework for portfolio optimization.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28th International Conference on Computer Supported Cooperative Work in Design (CSCWD)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IEEE. </a:t>
            </a:r>
          </a:p>
          <a:p>
            <a:pPr marL="5715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Sattar, A., Sarwar, A., Gillani, S., Bukhari, M., Rho, S., &amp; Faseeh, M. (2025). A novel RMS-driven deep reinforcement learning for optimized portfolio management in stock trading.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42813-42835.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https://doi.org/10.1109/ACCESS.2025.3546099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Jeon, J., Park, J., Park, C., &amp; Kang, U. (2025).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FreQuant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reinforcement-learning based adaptive portfolio optimization with multi-frequency decomposition.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30th ACM SIGKDD Conference on Knowledge Discovery and Data Mining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(pp. 1-12). ACM.</a:t>
            </a:r>
          </a:p>
          <a:p>
            <a:pPr marL="57150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Atwi, M., Olmo, J., &amp; Jiang, Y. (2025). High-dimensional multi-period portfolio allocation using deep reinforcement learning.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Review of Economics &amp; Finance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103996.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https://doi.org/10.1016/j.iref.2025.103996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410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7111F-0E0C-B4D3-4F89-FF3EF51AF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C9CE2-7548-9679-960C-61A09AA44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96" y="518512"/>
            <a:ext cx="1882698" cy="483960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819D1-0431-8C37-5030-14093C826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549" y="1136584"/>
            <a:ext cx="11038901" cy="5520248"/>
          </a:xfrm>
        </p:spPr>
        <p:txBody>
          <a:bodyPr>
            <a:normAutofit/>
          </a:bodyPr>
          <a:lstStyle/>
          <a:p>
            <a:pPr marL="628650" indent="-514350">
              <a:buFont typeface="+mj-lt"/>
              <a:buAutoNum type="arabicPeriod" startAt="6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Espiga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-Fernández, F., García-Sánchez,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&amp;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Ordieres-Meré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(2025).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gymfolio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reinforcement learning environment for portfolio optimization in Python. 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SoftwareX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102106.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https://doi.org/10.1016/j.softx.2025.102106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indent="-514350">
              <a:buFont typeface="+mj-lt"/>
              <a:buAutoNum type="arabicPeriod" startAt="6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Huang, G., Zhou, X., &amp; Song, Q. (2024). A deep reinforcement learning framework for dynamic portfolio optimization: Evidence from China's stock market. 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https://doi.org/10.48550/arXiv.2412.18563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indent="-514350">
              <a:buFont typeface="+mj-lt"/>
              <a:buAutoNum type="arabicPeriod" startAt="6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Huang, Y., Wan, X., Zhang, L., &amp; Lu, X. (2024). A novel deep reinforcement learning framework with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-attention networks for algorithmic trading.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Systems with Applications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122581.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https://doi.org/10.1016/j.eswa.2023.122581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indent="-514350">
              <a:buFont typeface="+mj-lt"/>
              <a:buAutoNum type="arabicPeriod" startAt="6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Bai, Z.-L., Li, X., Chen, Y., Wang, H., &amp; Zhang, J. (2023). Mercury: A deep reinforcement learning-based investment portfolio strategy for risk-return balance.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Intelligence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(12), 15234-15251.</a:t>
            </a:r>
          </a:p>
          <a:p>
            <a:pPr marL="628650" indent="-514350">
              <a:buFont typeface="+mj-lt"/>
              <a:buAutoNum type="arabicPeriod" startAt="6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Ansari, Y., Gillani, S., Bukhari, M., Maqsood, M., Durrani, M. Y., Mehmood, I.,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Ugail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H., &amp; Rho, S. (2022). A deep reinforcement learning-based decision support system for automated stock market trading.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90645-90661.</a:t>
            </a:r>
          </a:p>
          <a:p>
            <a:pPr marL="571500" indent="-457200">
              <a:buFont typeface="+mj-lt"/>
              <a:buAutoNum type="arabicPeriod" startAt="6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500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057D9-726C-E9C3-3995-4274575D6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F9089-3DD9-CC04-5379-E5E2A6E11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812" y="420976"/>
            <a:ext cx="1882698" cy="483960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8CCFC-C07C-EE0D-17C7-5D036C78A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549" y="916776"/>
            <a:ext cx="11038901" cy="5520248"/>
          </a:xfrm>
        </p:spPr>
        <p:txBody>
          <a:bodyPr>
            <a:normAutofit/>
          </a:bodyPr>
          <a:lstStyle/>
          <a:p>
            <a:pPr marL="628650" indent="-514350">
              <a:buFont typeface="+mj-lt"/>
              <a:buAutoNum type="arabicPeriod" startAt="11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Skeepers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T., van Zyl, T. L., &amp;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Paskaramoorthy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(2021). MA-FDRNN: Multi-asset fuzzy deep recurrent neural network reinforcement learning for portfolio management.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Computing and Applications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(18), 12329-12345.</a:t>
            </a:r>
          </a:p>
          <a:p>
            <a:pPr marL="628650" indent="-514350">
              <a:buFont typeface="+mj-lt"/>
              <a:buAutoNum type="arabicPeriod" startAt="11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Liu, X.-Y., Xia, Z., Rui, J., Gao, J., Yang, H., Zhu, M., Wang, C. D., Wang, Z., &amp; Guo, J. (2021). Deep reinforcement learning for automated stock trading: An ensemble strategy.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AAAI Conference on Artificial Intelligence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1-9.</a:t>
            </a:r>
          </a:p>
          <a:p>
            <a:pPr marL="628650" indent="-514350">
              <a:buFont typeface="+mj-lt"/>
              <a:buAutoNum type="arabicPeriod" startAt="11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Liu, X.-Y., Yang, H., Chen, Q., Zhang, R., Yang, L., Xiao, B., &amp; Wang, C. D. (2021).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FinRL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deep reinforcement learning library for automated stock trading in quantitative finance.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2021 Demo Track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8650" indent="-514350">
              <a:buFont typeface="+mj-lt"/>
              <a:buAutoNum type="arabicPeriod" startAt="11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Guan, M., &amp; Liu, X.-Y. (2021). Explainable deep reinforcement learning for portfolio management: An empirical approach.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AAAI Conference on Artificial Intelligence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215-223.</a:t>
            </a:r>
          </a:p>
          <a:p>
            <a:pPr marL="628650" indent="-514350">
              <a:buFont typeface="+mj-lt"/>
              <a:buAutoNum type="arabicPeriod" startAt="11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Huang, S.-H., Miao, Y.-H., &amp; Hsiao, Y.-T. (2021). Novel deep reinforcement algorithm with adaptive sampling strategy for continuous portfolio optimization.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77371-77383.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https://doi.org/10.1109/ACCESS.2021.3082186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indent="-514350">
              <a:buFont typeface="+mj-lt"/>
              <a:buAutoNum type="arabicPeriod" startAt="11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Jiang, Z., Xu, D., &amp; Liang, J. (2017). A deep reinforcement learning framework for the financial portfolio management problem. 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https://arxiv.org/abs/1706.10059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buFont typeface="+mj-lt"/>
              <a:buAutoNum type="arabicPeriod" startAt="11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965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ACE48E-F23C-CEC2-CD8E-887F431E5508}"/>
              </a:ext>
            </a:extLst>
          </p:cNvPr>
          <p:cNvSpPr txBox="1"/>
          <p:nvPr/>
        </p:nvSpPr>
        <p:spPr>
          <a:xfrm>
            <a:off x="4152900" y="2726266"/>
            <a:ext cx="3886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2736</TotalTime>
  <Words>3963</Words>
  <Application>Microsoft Macintosh PowerPoint</Application>
  <PresentationFormat>Widescreen</PresentationFormat>
  <Paragraphs>352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Times New Roman</vt:lpstr>
      <vt:lpstr>Wingdings</vt:lpstr>
      <vt:lpstr>Office Theme</vt:lpstr>
      <vt:lpstr>PowerPoint Presentation</vt:lpstr>
      <vt:lpstr>ABSTRACT</vt:lpstr>
      <vt:lpstr>PROBLEM STATEMENT</vt:lpstr>
      <vt:lpstr>LITERATURE  REVIEW</vt:lpstr>
      <vt:lpstr>LITERATURE  REVIEW</vt:lpstr>
      <vt:lpstr>LITERATURE  REVIEW</vt:lpstr>
      <vt:lpstr>LITERATURE  REVIEW</vt:lpstr>
      <vt:lpstr>LITERATURE  REVIEW</vt:lpstr>
      <vt:lpstr>LITERATURE  REVIEW</vt:lpstr>
      <vt:lpstr>LITERATURE  REVIEW</vt:lpstr>
      <vt:lpstr>LITERATURE  REVIEW</vt:lpstr>
      <vt:lpstr>PowerPoint Presentation</vt:lpstr>
      <vt:lpstr>GAPS</vt:lpstr>
      <vt:lpstr>PROPOSED SOLUTION</vt:lpstr>
      <vt:lpstr>PROPOSED SOLUTION</vt:lpstr>
      <vt:lpstr>PowerPoint Presentation</vt:lpstr>
      <vt:lpstr>References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Kurva Rajesh</dc:creator>
  <cp:lastModifiedBy>KEMIDI KARTHIK</cp:lastModifiedBy>
  <cp:revision>34</cp:revision>
  <dcterms:modified xsi:type="dcterms:W3CDTF">2025-09-14T14:37:33Z</dcterms:modified>
</cp:coreProperties>
</file>